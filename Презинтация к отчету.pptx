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1517155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1517155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15171558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15171558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15171558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15171558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15171558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15171558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15171558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15171558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15171558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15171558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15171558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15171558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0"/>
            <a:ext cx="8520600" cy="49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-635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6666"/>
              <a:buFont typeface="Arial"/>
              <a:buNone/>
            </a:pPr>
            <a:r>
              <a:t/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350" lvl="0" marL="0" rtl="0" algn="ctr">
              <a:spcBef>
                <a:spcPts val="60"/>
              </a:spcBef>
              <a:spcAft>
                <a:spcPts val="0"/>
              </a:spcAft>
              <a:buClr>
                <a:schemeClr val="dk1"/>
              </a:buClr>
              <a:buSzPct val="66666"/>
              <a:buFont typeface="Arial"/>
              <a:buNone/>
            </a:pPr>
            <a:r>
              <a:t/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350" lvl="0" marL="0" rtl="0" algn="ctr">
              <a:spcBef>
                <a:spcPts val="60"/>
              </a:spcBef>
              <a:spcAft>
                <a:spcPts val="0"/>
              </a:spcAft>
              <a:buClr>
                <a:schemeClr val="dk1"/>
              </a:buClr>
              <a:buSzPct val="66666"/>
              <a:buFont typeface="Arial"/>
              <a:buNone/>
            </a:pPr>
            <a:r>
              <a:t/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350" lvl="0" marL="0" rtl="0" algn="ctr">
              <a:spcBef>
                <a:spcPts val="60"/>
              </a:spcBef>
              <a:spcAft>
                <a:spcPts val="0"/>
              </a:spcAft>
              <a:buClr>
                <a:schemeClr val="dk1"/>
              </a:buClr>
              <a:buSzPct val="66666"/>
              <a:buFont typeface="Arial"/>
              <a:buNone/>
            </a:pPr>
            <a:r>
              <a:rPr lang="ru" sz="1650">
                <a:latin typeface="Times New Roman"/>
                <a:ea typeface="Times New Roman"/>
                <a:cs typeface="Times New Roman"/>
                <a:sym typeface="Times New Roman"/>
              </a:rPr>
              <a:t>ФГБОУ ВО «Глазовский государственный инженерно-педагогический университет имени В.Г. 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350" lvl="0" marL="0" rtl="0" algn="ctr">
              <a:spcBef>
                <a:spcPts val="60"/>
              </a:spcBef>
              <a:spcAft>
                <a:spcPts val="0"/>
              </a:spcAft>
              <a:buClr>
                <a:schemeClr val="dk1"/>
              </a:buClr>
              <a:buSzPct val="66666"/>
              <a:buFont typeface="Arial"/>
              <a:buNone/>
            </a:pPr>
            <a:r>
              <a:rPr lang="ru" sz="1650">
                <a:latin typeface="Times New Roman"/>
                <a:ea typeface="Times New Roman"/>
                <a:cs typeface="Times New Roman"/>
                <a:sym typeface="Times New Roman"/>
              </a:rPr>
              <a:t>Короленко»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350" lvl="0" marL="0" rtl="0" algn="ctr">
              <a:spcBef>
                <a:spcPts val="60"/>
              </a:spcBef>
              <a:spcAft>
                <a:spcPts val="0"/>
              </a:spcAft>
              <a:buClr>
                <a:schemeClr val="dk1"/>
              </a:buClr>
              <a:buSzPct val="66666"/>
              <a:buFont typeface="Arial"/>
              <a:buNone/>
            </a:pPr>
            <a:r>
              <a:t/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47089" marR="913130" rtl="0" algn="ctr">
              <a:spcBef>
                <a:spcPts val="6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b="1" lang="ru" sz="3000">
                <a:latin typeface="Times New Roman"/>
                <a:ea typeface="Times New Roman"/>
                <a:cs typeface="Times New Roman"/>
                <a:sym typeface="Times New Roman"/>
              </a:rPr>
              <a:t>ОТЧЕТ ПО УЧЕБНОЙ ПРАКТИКЕ</a:t>
            </a:r>
            <a:r>
              <a:rPr b="1" lang="ru" sz="21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47089" marR="91313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t/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7305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350" lvl="0" marL="0" marR="71120" rtl="0" algn="ctr">
              <a:spcBef>
                <a:spcPts val="265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b="1" lang="ru" sz="1600">
                <a:latin typeface="Times New Roman"/>
                <a:ea typeface="Times New Roman"/>
                <a:cs typeface="Times New Roman"/>
                <a:sym typeface="Times New Roman"/>
              </a:rPr>
              <a:t>ПМ. 04 СОПРОВОЖДЕНИЕ И ОБСЛУЖИВАНИЕ 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350" lvl="0" marL="0" marR="69850" rtl="0" algn="ctr"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b="1" lang="ru" sz="1600">
                <a:latin typeface="Times New Roman"/>
                <a:ea typeface="Times New Roman"/>
                <a:cs typeface="Times New Roman"/>
                <a:sym typeface="Times New Roman"/>
              </a:rPr>
              <a:t>ПРОГРАММНОГО ОБЕСПЕЧЕНИЯ  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350" lvl="0" marL="1350645" marR="1365885" rtl="0" algn="ctr"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b="1" lang="ru" sz="1600">
                <a:latin typeface="Times New Roman"/>
                <a:ea typeface="Times New Roman"/>
                <a:cs typeface="Times New Roman"/>
                <a:sym typeface="Times New Roman"/>
              </a:rPr>
              <a:t>КОМПЬЮТЕРНЫХ СИСТЕМ УП. 04 УЧЕБНАЯ ПРАКТИКА</a:t>
            </a:r>
            <a:r>
              <a:rPr b="1" lang="ru" sz="1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"/>
              </a:spcBef>
              <a:spcAft>
                <a:spcPts val="0"/>
              </a:spcAft>
              <a:buNone/>
            </a:pPr>
            <a:r>
              <a:rPr b="1" lang="ru" sz="1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71165" marR="299212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472055" marR="60325" rtl="0" algn="l">
              <a:spcBef>
                <a:spcPts val="910"/>
              </a:spcBef>
              <a:spcAft>
                <a:spcPts val="0"/>
              </a:spcAft>
              <a:buNone/>
            </a:pPr>
            <a:r>
              <a:rPr lang="ru" sz="1700">
                <a:latin typeface="Times New Roman"/>
                <a:ea typeface="Times New Roman"/>
                <a:cs typeface="Times New Roman"/>
                <a:sym typeface="Times New Roman"/>
              </a:rPr>
              <a:t>ФИО - </a:t>
            </a:r>
            <a:r>
              <a:rPr lang="ru" sz="1700">
                <a:latin typeface="Times New Roman"/>
                <a:ea typeface="Times New Roman"/>
                <a:cs typeface="Times New Roman"/>
                <a:sym typeface="Times New Roman"/>
              </a:rPr>
              <a:t>Ропацкий</a:t>
            </a:r>
            <a:r>
              <a:rPr lang="ru" sz="1700">
                <a:latin typeface="Times New Roman"/>
                <a:ea typeface="Times New Roman"/>
                <a:cs typeface="Times New Roman"/>
                <a:sym typeface="Times New Roman"/>
              </a:rPr>
              <a:t> Евгений                               </a:t>
            </a: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Гр - СИ 132 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472055" marR="60325" rtl="0" algn="l"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350" lvl="0" marL="0" marR="26669" rtl="0" algn="ctr"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            г. Глазов 2025                        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472055" marR="60325" rtl="0" algn="ctr">
              <a:spcBef>
                <a:spcPts val="79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86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45664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ru" sz="3000">
                <a:latin typeface="Times New Roman"/>
                <a:ea typeface="Times New Roman"/>
                <a:cs typeface="Times New Roman"/>
                <a:sym typeface="Times New Roman"/>
              </a:rPr>
              <a:t>Цель работы: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Mono"/>
              <a:buChar char="●"/>
            </a:pPr>
            <a:r>
              <a:rPr lang="ru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Создание автономного стационарного стенда</a:t>
            </a:r>
            <a:endParaRPr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Mono"/>
              <a:buChar char="●"/>
            </a:pPr>
            <a:r>
              <a:rPr lang="ru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Реализовать сетевое питание 220В</a:t>
            </a:r>
            <a:endParaRPr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Mono"/>
              <a:buChar char="●"/>
            </a:pPr>
            <a:r>
              <a:rPr lang="ru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Воспроизвести автоматический запуск</a:t>
            </a:r>
            <a:endParaRPr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Mono"/>
              <a:buChar char="●"/>
            </a:pPr>
            <a:r>
              <a:rPr lang="ru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Продемонстрировать кинематику стенда</a:t>
            </a:r>
            <a:endParaRPr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0"/>
            <a:ext cx="8520600" cy="1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ru" sz="2700">
                <a:latin typeface="Times New Roman"/>
                <a:ea typeface="Times New Roman"/>
                <a:cs typeface="Times New Roman"/>
                <a:sym typeface="Times New Roman"/>
              </a:rPr>
              <a:t>Оборудование:</a:t>
            </a:r>
            <a:endParaRPr b="1"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0" y="567450"/>
            <a:ext cx="8520600" cy="43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Распределительная плата                                        Блок питания ARD-PS-12V10A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Всенаправленное колесо ARD-OMNI-</a:t>
            </a: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WHEEL                        </a:t>
            </a:r>
            <a:r>
              <a:rPr lang="ru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Компоненты Applied Robotics</a:t>
            </a:r>
            <a:endParaRPr sz="1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                                </a:t>
            </a:r>
            <a:r>
              <a:rPr lang="ru" sz="1000">
                <a:solidFill>
                  <a:srgbClr val="F9FAFB"/>
                </a:solidFill>
                <a:latin typeface="Roboto Mono"/>
                <a:ea typeface="Roboto Mono"/>
                <a:cs typeface="Roboto Mono"/>
                <a:sym typeface="Roboto Mono"/>
              </a:rPr>
              <a:t>Robotics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8550" y="527313"/>
            <a:ext cx="2217000" cy="153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2050" y="2290150"/>
            <a:ext cx="2297550" cy="201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2125" y="2527150"/>
            <a:ext cx="2599063" cy="153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8850" y="464100"/>
            <a:ext cx="1736650" cy="147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ru" sz="3000">
                <a:latin typeface="Times New Roman"/>
                <a:ea typeface="Times New Roman"/>
                <a:cs typeface="Times New Roman"/>
                <a:sym typeface="Times New Roman"/>
              </a:rPr>
              <a:t>Программное обеспечение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5240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8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Arduino IDE 2.0.3                                                                    </a:t>
            </a:r>
            <a:r>
              <a:rPr lang="ru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Библиотеки Dynamixel </a:t>
            </a:r>
            <a:endParaRPr sz="2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Автономная логика работы                                                   </a:t>
            </a:r>
            <a:r>
              <a:rPr lang="ru" sz="1764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Веб-интерфейс управления</a:t>
            </a:r>
            <a:endParaRPr sz="126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4662" y="1152485"/>
            <a:ext cx="1128700" cy="11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4475" y="1152475"/>
            <a:ext cx="2392150" cy="1309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219" y="2999500"/>
            <a:ext cx="3357575" cy="1604968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93168" y="2949638"/>
            <a:ext cx="3094750" cy="170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ru" sz="3000">
                <a:latin typeface="Times New Roman"/>
                <a:ea typeface="Times New Roman"/>
                <a:cs typeface="Times New Roman"/>
                <a:sym typeface="Times New Roman"/>
              </a:rPr>
              <a:t>Результаты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ru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Работоспособная система готовая к эксплуатации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ru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Полная документация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ru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Он служит отличной учебной платформой для освоения современных технологий встраиваемых систем, автоматического управления и проектной разработки «под ключ».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ru" sz="3000">
                <a:latin typeface="Times New Roman"/>
                <a:ea typeface="Times New Roman"/>
                <a:cs typeface="Times New Roman"/>
                <a:sym typeface="Times New Roman"/>
              </a:rPr>
              <a:t>Особенности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258900" y="1398425"/>
            <a:ext cx="8573400" cy="36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Полная автономность — не требует пульта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Сетевое питание — неограниченное время работы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Всенаправленное движение — демонстрация сложной кинематики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Промышленные компоненты — работа с реальным оборудованием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БЕЗОПАСНОСТЬ: Защита от перегрузок, контроль напряжения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000">
                <a:latin typeface="Times New Roman"/>
                <a:ea typeface="Times New Roman"/>
                <a:cs typeface="Times New Roman"/>
                <a:sym typeface="Times New Roman"/>
              </a:rPr>
              <a:t>Выполнение основных заданий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6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Документация по ГОСТ ✅                         </a:t>
            </a: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Образ системы ✅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Анализ характеристик ✅                            </a:t>
            </a: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Система обновлений ✅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Выявление проблем ✅                                </a:t>
            </a: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Разработка модулей ✅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Устранение несовместимости ✅                </a:t>
            </a: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 Сетевой доступ ✅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Конфигурирование ✅                                 </a:t>
            </a: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Тестирование ПО ✅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ПОКАЗАТЕЛИ: 92% успешных тестов, 0 критических ошибок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3000">
                <a:latin typeface="Times New Roman"/>
                <a:ea typeface="Times New Roman"/>
                <a:cs typeface="Times New Roman"/>
                <a:sym typeface="Times New Roman"/>
              </a:rPr>
              <a:t>Перспективы развития</a:t>
            </a:r>
            <a:endParaRPr sz="2820"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141150" y="1152475"/>
            <a:ext cx="892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ДАЛЬНЕЙШИЕ ВОЗМОЖНОСТИ: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Добавление датчиков (ИК, ультразвук, камеры)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Реализация сложных траекторий (восьмерка, спираль)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Интеграция с промышленными системами (SCADA)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Разработка лабораторных работ для студентов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ИННОВАЦИОННЫЙ ПОТЕНЦИАЛ: Основа для исследовательских проектов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